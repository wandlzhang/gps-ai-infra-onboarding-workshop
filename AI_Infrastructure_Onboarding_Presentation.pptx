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097280" cy="1097280"/>
          </a:xfrm>
          <a:prstGeom prst="ellipse">
            <a:avLst/>
          </a:prstGeom>
          <a:solidFill>
            <a:srgbClr val="EA4335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371600"/>
            <a:ext cx="731520" cy="731520"/>
          </a:xfrm>
          <a:prstGeom prst="ellipse">
            <a:avLst/>
          </a:prstGeom>
          <a:solidFill>
            <a:srgbClr val="FBBC05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2286000"/>
            <a:ext cx="457200" cy="457200"/>
          </a:xfrm>
          <a:prstGeom prst="ellipse">
            <a:avLst/>
          </a:prstGeom>
          <a:solidFill>
            <a:srgbClr val="34A853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274320"/>
            <a:ext cx="365760" cy="365760"/>
          </a:xfrm>
          <a:prstGeom prst="ellipse">
            <a:avLst/>
          </a:prstGeom>
          <a:solidFill>
            <a:srgbClr val="4285F4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☁  Google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AI Infrastructure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CBFA"/>
                </a:solidFill>
                <a:latin typeface="Arial"/>
              </a:defRPr>
            </a:pPr>
            <a:r>
              <a:t>A comprehensive guide to Google Cloud AI infrastructure capabilities</a:t>
            </a:r>
            <a:br/>
            <a:r>
              <a:t>for Public Sector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27432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1C6"/>
                </a:solidFill>
                <a:latin typeface="Arial"/>
              </a:defRPr>
            </a:pPr>
            <a:r>
              <a:t>From quota requests and reservations, through deploying workloads on</a:t>
            </a:r>
            <a:br/>
            <a:r>
              <a:t>GKE AI Hypercompute, to monitoring TPU health and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Arial"/>
              </a:defRPr>
            </a:pPr>
            <a:r>
              <a:t>Onboarding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Arial"/>
              </a:defRPr>
            </a:pPr>
            <a:r>
              <a:t>Five phases from planning to production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64592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1488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rial"/>
              </a:defRPr>
            </a:pPr>
            <a:r>
              <a:t>Foundational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Arial"/>
              </a:defRPr>
            </a:pPr>
            <a:r>
              <a:t>Accelerator guide, agentic coders,</a:t>
            </a:r>
            <a:br/>
            <a:r>
              <a:t>quota &amp; reservations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56032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560320"/>
            <a:ext cx="21488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788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rial"/>
              </a:defRPr>
            </a:pPr>
            <a:r>
              <a:t>Core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4612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Arial"/>
              </a:defRPr>
            </a:pPr>
            <a:r>
              <a:t>Networking, disk images, storage,</a:t>
            </a:r>
            <a:br/>
            <a:r>
              <a:t>data pipelines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164592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56032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560320"/>
            <a:ext cx="21488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788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rial"/>
              </a:defRPr>
            </a:pPr>
            <a:r>
              <a:t>Deploying Workloads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Arial"/>
              </a:defRPr>
            </a:pPr>
            <a:r>
              <a:t>DWS, GKE, Vertex AI, Cluster</a:t>
            </a:r>
            <a:br/>
            <a:r>
              <a:t>Toolkit, XPK, Slurm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0" y="164592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56032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560320"/>
            <a:ext cx="21488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788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24612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Arial"/>
              </a:defRPr>
            </a:pPr>
            <a:r>
              <a:t>TPU observability, XProf,</a:t>
            </a:r>
            <a:br/>
            <a:r>
              <a:t>alerts &amp; dashboards</a:t>
            </a:r>
          </a:p>
        </p:txBody>
      </p:sp>
      <p:sp>
        <p:nvSpPr>
          <p:cNvPr id="29" name="Oval 28"/>
          <p:cNvSpPr/>
          <p:nvPr/>
        </p:nvSpPr>
        <p:spPr>
          <a:xfrm>
            <a:off x="10332720" y="164592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56032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2560320"/>
            <a:ext cx="21488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2788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rial"/>
              </a:defRPr>
            </a:pPr>
            <a:r>
              <a:t>Billing &amp; 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4612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Arial"/>
              </a:defRPr>
            </a:pPr>
            <a:r>
              <a:t>Budgets, quotas, CUDs,</a:t>
            </a:r>
            <a:br/>
            <a:r>
              <a:t>cost optimization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560320" y="1828800"/>
            <a:ext cx="228600" cy="22860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4846320" y="1828800"/>
            <a:ext cx="228600" cy="22860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7132320" y="1828800"/>
            <a:ext cx="228600" cy="22860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9418320" y="1828800"/>
            <a:ext cx="228600" cy="22860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Quick Start &amp; Key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225296"/>
            <a:ext cx="3474720" cy="22860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38328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⚡ Prerequisites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• gcloud CLI</a:t>
            </a:r>
            <a:br/>
            <a:r>
              <a:t>• terraform</a:t>
            </a:r>
            <a:br/>
            <a:r>
              <a:t>• kubectl</a:t>
            </a:r>
            <a:br/>
            <a:r>
              <a:t>• packer</a:t>
            </a:r>
            <a:br/>
            <a:r>
              <a:t>• jq</a:t>
            </a:r>
            <a:br/>
            <a:br/>
            <a:r>
              <a:t>Authenticate &amp; set project,</a:t>
            </a:r>
            <a:br/>
            <a:r>
              <a:t>then follow sections 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225296"/>
            <a:ext cx="3474720" cy="22860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338328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📊 Dynamic Workload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DWS enables Google Cloud to schedule</a:t>
            </a:r>
            <a:br/>
            <a:r>
              <a:t>workloads when capacity is available.</a:t>
            </a:r>
            <a:br/>
            <a:br/>
            <a:r>
              <a:t>Critical for high-demand accelerators</a:t>
            </a:r>
            <a:br/>
            <a:r>
              <a:t>like A3/H100.</a:t>
            </a:r>
            <a:br/>
            <a:br/>
            <a:r>
              <a:t>Up to 53% discount vs on-demand.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5" y="1225296"/>
            <a:ext cx="3474720" cy="22860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11887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999" y="1234440"/>
            <a:ext cx="338328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🚀 GKE AI Hypercompute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1691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Recommended platform for large-scale</a:t>
            </a:r>
            <a:br/>
            <a:r>
              <a:t>AI training and inference.</a:t>
            </a:r>
            <a:br/>
            <a:br/>
            <a:r>
              <a:t>Includes Cluster Toolkit, MIG + DWS</a:t>
            </a:r>
            <a:br/>
            <a:r>
              <a:t>Resize, and Flex Start training.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" y="3877056"/>
            <a:ext cx="5303520" cy="22860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5212080" cy="457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🔑 Quota &amp; Reservations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Before deploying GPU/TPU workloads, you need:</a:t>
            </a:r>
            <a:br/>
            <a:r>
              <a:t>• Resource-level quotas (vCPUs, GPUs, machine types)</a:t>
            </a:r>
            <a:br/>
            <a:r>
              <a:t>• Reservation count quota (separate from resource quota)</a:t>
            </a:r>
            <a:br/>
            <a:r>
              <a:t>• Scripts to automate checking &amp; requesting increases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3877056"/>
            <a:ext cx="5303520" cy="22860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0" y="384048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3886200"/>
            <a:ext cx="521208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📁 Repository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43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01-foundational-tools/     → Agentic coders, accelerator guide</a:t>
            </a:r>
            <a:br/>
            <a:r>
              <a:t>02-core-infrastructure/    → Networking, storage, disk images</a:t>
            </a:r>
            <a:br/>
            <a:r>
              <a:t>03-deploying-workloads/    → DWS, GKE, Vertex AI, Slurm</a:t>
            </a:r>
            <a:br/>
            <a:r>
              <a:t>04-monitoring/             → TPU health, dashboards</a:t>
            </a:r>
            <a:br/>
            <a:r>
              <a:t>05-billing-usage/          → Cost controls, CUDs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Foundational Tools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CBFA"/>
                </a:solidFill>
                <a:latin typeface="Arial"/>
              </a:defRPr>
            </a:pPr>
            <a:r>
              <a:t>Accelerator selection, agentic coders, quota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Accelerator Selection &amp; Sizing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How to pick the right GPU for your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🎯  Choosing the right accelerator is the single most impactful decision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💰  GPU hourly rates vary by 10× or more across machine types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Determines cost, performance, availability, and time-to-result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📐  Use sizing guide BEFORE requesting quota or making reservations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Covers: GPU catalog, workload matching, memory sizing, checkpointing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Current-Generation GPU Machine Types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Machine Type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GPU Model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GPUs/VM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GPU Mem/GPU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GPU Mem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Network BW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A4X Max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GB300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279 GB HBM3e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1,116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3,600 Gbps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GB200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186 GB HBM3e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744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2,000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B200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180 GB HBM3e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1,440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3,600 Gbps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A3 Ultra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H200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141 GB HBM3e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1,128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3,600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A3 Mega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H100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80 GB HBM3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640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1,800 Gbps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A3 High (8g)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H100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80 GB HBM3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640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1,000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G4 (8 GPU)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RTX PRO 6000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96 GB GDDR7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768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400 Gbps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G2 (8 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NVIDIA 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24 GB GDDR6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192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100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GPU Memory Sizing — Rules of Thumb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Approx. GPU Memory Required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FP16/BF16 Inference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~2 GB per billion params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2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INT8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~1 GB per billion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1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INT4 Inference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~0.5 GB per billion params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0.5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BF16 Training (Adam)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~18-20 GB per billion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18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LoRA Fine-tuning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~2-4 GB per billion params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2 GB + overhead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QLoRA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~0.5-1 GB per billion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params_B × 0.75 GB +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Checkpointing — Protect Your Training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Never use Local SSD as your only checkpoint destination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⚠️  GPU workloads are ALWAYS at risk of interruption (DWS expiry, Spot preemption, HW failure)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💸  Cost of lost work = hourly_GPU_cost × hours_since_checkpoint × GPU_count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📦  Storage options: Rapid Bucket (best for large scale), GCS (most common), HyperDisk, ParallelStore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Patterns: Synchronous to GCS (most common), Async with Orbax (JAX/Flax), Rapid Bucket append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⏱️  Frequency: Every 15-30 min (Spot), 30 min-1 hr (DWS), 1-2 hrs (reserved)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Enable XLA compilation caching for JAX: 52% faster cold starts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Agentic Coder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Arial"/>
              </a:defRPr>
            </a:pPr>
            <a:r>
              <a:t>IDE-Based: Cline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Install Cline extension in VS Code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Configure with Vertex AI + Project ID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MCP Servers: Google Dev Knowledge,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Cloud Logging, GitHub, HuggingFace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Custom rules for coding preferences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Works with Claude Opus 4.6 via Vertex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Arial"/>
              </a:defRPr>
            </a:pPr>
            <a:r>
              <a:t>CLI-Based: Claude Code &amp;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Claude Code: npm install globally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→ Configure Vertex AI backend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→ System prompt + permissions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→ Register MCP servers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Gemini CLI: npm install globally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→ Uses gcloud credentials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  → Configure via settings.json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2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Core Infrastructure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CBFA"/>
                </a:solidFill>
                <a:latin typeface="Arial"/>
              </a:defRPr>
            </a:pPr>
            <a:r>
              <a:t>Networking, disk images, storage, and data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Storage for AI Workloads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29184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GCSFuse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Mount GCS as filesystem via CSI driver.</a:t>
            </a:r>
            <a:br/>
            <a:r>
              <a:t>7× faster pod startup with tuning.</a:t>
            </a:r>
            <a:br/>
            <a:r>
              <a:t>41% faster on A3 vs A2.</a:t>
            </a:r>
            <a:br/>
            <a:r>
              <a:t>Standard pattern in gpu-recipes.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417320"/>
            <a:ext cx="329184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Rapid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Managed SSD zonal read cache.</a:t>
            </a:r>
            <a:br/>
            <a:r>
              <a:t>2.5 TB/s throughput.</a:t>
            </a:r>
            <a:br/>
            <a:r>
              <a:t>Up to 96% latency reduction.</a:t>
            </a:r>
            <a:br/>
            <a:r>
              <a:t>Zero app changes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80" y="1417320"/>
            <a:ext cx="329184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Rapid Bucket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Zonal object storage with append.</a:t>
            </a:r>
            <a:br/>
            <a:r>
              <a:t>Sub-ms latency, 15 TB/s, 20M QPS.</a:t>
            </a:r>
            <a:br/>
            <a:r>
              <a:t>Best for model checkpointing.</a:t>
            </a:r>
            <a:br/>
            <a:r>
              <a:t>Compatible with GCSFuse v3.7.2+.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Data Pipeline &amp; Preparation for AI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Where BigQuery and data preparation services fit in the AI/ML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📊  BigQuery operates UPSTREAM of the accelerator storage layer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Common patterns: SQL-to-Training, Dataflow ETL, BigQuery ML, BigFrames notebook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📤  Export formats: Parquet (general), TFRecord (TF), CSV/JSON (small), Avro (schema)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🐼  BigQuery DataFrames: pandas-like API at warehouse scale (750+ APIs)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🔗  Handoff point is GCS: BigQuery prepares → GCS stores → GCSFuse/Rapid delivers to GPU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🏗️  Also supports: Vertex AI Feature Store, Vertex AI Pipelines, Dataflow templates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VM Disk Images — 5 Methods for Reusable Configurations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Boot Time</a:t>
                      </a:r>
                    </a:p>
                  </a:txBody>
                  <a:tcPr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EA43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Public Images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Starting point, Deep Learning VMs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Custom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$0.050/GB/mo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Golden images, org-wide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Snapshots (Standard)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$0.026/GB/mo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Backup, cloning, DR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Archive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$0.0026/GB/mo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Compliance, long-term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Existing Disks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Instant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PD pricing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Quick cloning, dev/test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Building VM Images with Packer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Automated, reproducible golden image building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🏗️  Infrastructure as Code: image definitions are version-controlled .pkr.hcl files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Reproducible: every build produces identical image from same template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One command: packer build template.pkr.hcl (vs. manual multi-step process)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🔌  Provisioners: Shell, Ansible, Chef, File upload — any combination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☁️  CI/CD: Cloud Build integration for automated image pipelines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📦  Examples: Basic Ubuntu, AI/ML GPU (CUDA + PyTorch), HPC (MPI + libfabric)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🔒  Security: Use IAP (no public IP), dedicated service accounts, image scanning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Zero Trust VM Access — No Public IPs + 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Reduced attack surface — no port scanning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Defense in depth — second layer beyond firewall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No IP-based trust — identity-based access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Simplified firewall management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Compliance: PCI-DSS, HIPAA, SOC 2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Controlled egress via Cloud NAT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Arial"/>
              </a:defRPr>
            </a:pPr>
            <a:r>
              <a:t>Zero Trust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Verify identity → Google Identity auth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Least privilege → per-user, per-VM IAM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No implicit trust → no VPN, no public IP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Device trust → Access Context Manager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Continuous audit → Cloud Audit Logs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Short-lived creds → OS Login certificates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7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Deploying Workloads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CBFA"/>
                </a:solidFill>
                <a:latin typeface="Arial"/>
              </a:defRPr>
            </a:pPr>
            <a:r>
              <a:t>DWS, GKE, Vertex AI, Cluster Toolkit, XPK, Cluster Director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Deployment Methods at a Glance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BBC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FBBC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BBC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DWS Support</a:t>
                      </a:r>
                    </a:p>
                  </a:txBody>
                  <a:tcPr>
                    <a:solidFill>
                      <a:srgbClr val="FBBC0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GKE (Autopilot/Std)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GKE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Direct GPU deployment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Flex-start, Queued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Cluster Toolkit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GKE (Terraform)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Production clusters, IaC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Flex-start, Reservation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XPK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GKE (Python CLI)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Rapid PoC, testing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Flex-start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Cluster Director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Managed Slurm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Slurm-native teams,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Flex-start, 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Serverless training, zero mgmt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FLEX_START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Colab 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Interactive GPU notebooks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Via Reservations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Compute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MIGs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Raw VM control, batch training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Flex-start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Calendar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Future Reservations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Guaranteed start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Calendar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Dynamic Workload Scheduler (DWS)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Flex-Start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Queued until capacity available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Up to 53% discount vs on-demand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Max 7-day run duration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All VMs provisioned at once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Dense allocation (close placement)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Not preemptible once running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Cancel anytime while queued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Calendar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Guaranteed start time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Must submit 87h+ in advance (GPUs)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Cannot cancel after submission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Committed cost obligation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Dense allocation for GPUs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Up to 53% discount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Best for planned, deadline-critical 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GKE — Autopilot vs Standard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Autopilot (Recommended)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Google manages nodes automatically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Pay per pod resource usage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GPU via nodeSelector (simple!)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Best security defaults enforced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No node pool management needed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DWS via cloud.google.com/gke-flex-start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Limitation: No GPUDirect RDMA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Standard (Full Control)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You create &amp; manage node pools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Pay for entire VM, used or not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Full control over machine types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GPUDirect RDMA supported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Privileged containers allowed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Custom node configurations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DWS via node pool flags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Cluster Toolkit — Production-Ready GKE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AI-optimized GKE clusters with Terraform blueprints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🏗️  One-command deployment: gcluster deploy provisions complete stack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📋  Terraform blueprints encode Google's recommended GPU networking settings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🔌  GPUDirect RDMA multi-NIC automatically configured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Supports reservation-bound, DWS flex-start, and Spot provisioning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📊  Auto-installs Kueue for DWS queued provisioning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Reservation + DWS fallback pattern via Kueue multi-flavor ClusterQueue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📦  Blueprints: A4X Max, A4X, A4, A3 Ultra, A3 Mega, A3 High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💡  Recommended for production deployments (vs XPK for PoCs)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XPK — Quick GPU &amp; TPU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Accelerated Processing Kit for rapid AI/ML experimentation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🚀  Python CLI that simplifies cluster creation and workload execution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Zero Kubernetes knowledge required — XPK abstracts all complexity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🔧  One command: xpk cluster create --flex enables DWS flex-start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📊  Auto-installs Kueue, JobSet, CoreDNS, and Crane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🎯  Supports TPU (v4 through Ironwood) and GPU (A100 through A4X)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📊  Built-in priority levels: very-low → very-high with preemption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💡  Best for PoC, testing, experimentation — graduate to Cluster Toolkit for prod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🔄  xpk cluster adapt can configure existing clusters for XPK workloads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Cluster Director — Managed Slurm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For Slurm-native teams and HPC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🏢  Fully managed Slurm environment with HA controller, login nodes, GPU compute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🖥️  Console-first: Create clusters via Google Cloud Console step-by-step UI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💰  Supports reservations, DWS Flex-start, Calendar Mode, Spot, On-demand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🔧  Pre-configured: NVIDIA drivers, CUDA, Slurm, NCCL, GPUDirect RDMA pre-installed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🔍  Automatic GPU health checks via Slurm prolog scripts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📊  Topology-aware scheduling for optimal workload placement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🐳  Container support via NVIDIA enroot + pyxis (no custom image needed)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⚡  Minutes to deploy login node + DWS wait for GPU VMs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Vertex AI &amp; Colab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Vertex AI (FLEX_START)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Serverless — zero infra management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Fastest time to first job (minutes)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Set strategy to FLEX_START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Supports L4, A100, H100, H200, B200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Max 7-day job timeout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Python SDK, gcloud, or REST API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Up to 53% discount via DWS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Colab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Interactive GPU notebooks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Managed Vertex AI environment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GPUs: V100, T4, A100, L4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Enterprise: IAM, VPC, CMEK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Scheduled notebook execution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Develop → Deploy pattern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18-hour auto-deletion limit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Compute Engine &amp; Calendar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MIG Resize Requests (Flex-start)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Raw VM control — no K8s overhead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Create Instance Template → MIG → Resize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All VMs provisioned simultaneously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Max 7-day run duration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Up to 53% discount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Best for batch training, custom images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Teams without K8s expertise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5"/>
                </a:solidFill>
                <a:latin typeface="Arial"/>
              </a:defRPr>
            </a:pPr>
            <a:r>
              <a:t>Calendar Mode (Future Reservations)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Guaranteed start time for GPUs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87-hour minimum lead time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Cannot cancel after submission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Committed cost obligation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Dense allocation for training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Best for planned runs with deadlines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Up to 80 VMs for up to 90 days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CBFA"/>
                </a:solidFill>
                <a:latin typeface="Arial"/>
              </a:defRPr>
            </a:pPr>
            <a:r>
              <a:t>TPU/GPU health, performance profiling, proactive alerting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AI Workload Observability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29184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Layer 1: GKE AI/ML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Single-pane health view:</a:t>
            </a:r>
            <a:br/>
            <a:r>
              <a:t>• JobSet monitoring dashboard</a:t>
            </a:r>
            <a:br/>
            <a:r>
              <a:t>• TPU node pool status</a:t>
            </a:r>
            <a:br/>
            <a:r>
              <a:t>• Accelerator metrics &amp; logs</a:t>
            </a:r>
            <a:br/>
            <a:r>
              <a:t>• Scheduling &amp; runtime goodput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417320"/>
            <a:ext cx="329184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Layer 2: Cloud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Metrics &amp; proactive alerts:</a:t>
            </a:r>
            <a:br/>
            <a:r>
              <a:t>• TPU duty cycle &amp; memory</a:t>
            </a:r>
            <a:br/>
            <a:r>
              <a:t>• JobSet goodput &amp; TBI/TTR</a:t>
            </a:r>
            <a:br/>
            <a:r>
              <a:t>• Node health &amp; status</a:t>
            </a:r>
            <a:br/>
            <a:r>
              <a:t>• PromQL-based alert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80" y="1417320"/>
            <a:ext cx="329184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Layer 3: XProf Profiling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Deep performance analysis:</a:t>
            </a:r>
            <a:br/>
            <a:r>
              <a:t>• Trace Viewer (operation timeline)</a:t>
            </a:r>
            <a:br/>
            <a:r>
              <a:t>• HLO Op Profile (time breakdown)</a:t>
            </a:r>
            <a:br/>
            <a:r>
              <a:t>• Memory Viewer (allocation)</a:t>
            </a:r>
            <a:br/>
            <a:r>
              <a:t>• Roofline Analysis (bottlenecks)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Recommended Proactive Alert Policies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TPU Node Not Ready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condition='Ready', status='False'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Node Pool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status='Error'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Low TPU Duty Cycle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avg duty cycle &lt; 10%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High HBM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memory_used/total &gt;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Low Scheduling Goodput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scheduling_goodput &lt; 0.5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Frequent Interruptions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interruptions &gt; 3/hour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XProf &amp; TPU Monitoring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Arial"/>
              </a:defRPr>
            </a:pPr>
            <a:r>
              <a:t>XProf — Performance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&lt; 1% overhead — profile in production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Trace Viewer: operation timeline on HW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HLO Op Profile: time breakdown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Memory Viewer: allocation visualization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Roofline Analysis: compute vs memory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cloud-diagnostics-xprof for hosting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Supports JAX, PyTorch XLA, TensorFlow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8288" cy="45720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Arial"/>
              </a:defRPr>
            </a:pPr>
            <a:r>
              <a:t>TPU Monitoring Library (LibTPU)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Hardware-level telemetry from TPU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Metrics: duty_cycle, tensorcore_util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HBM capacity total &amp; usage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Network latency &amp; throughput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HLO execution timing &amp; queue size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TPU-Z for hang/deadlock diagnostics</a:t>
            </a:r>
          </a:p>
          <a:p>
            <a:pPr>
              <a:spcAft>
                <a:spcPts val="800"/>
              </a:spcAft>
              <a:defRPr sz="1300">
                <a:solidFill>
                  <a:srgbClr val="202124"/>
                </a:solidFill>
                <a:latin typeface="Arial"/>
              </a:defRPr>
            </a:pPr>
            <a:r>
              <a:t>pip install libtpu or jax[tpu]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Billing &amp;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CBFA"/>
                </a:solidFill>
                <a:latin typeface="Arial"/>
              </a:defRPr>
            </a:pPr>
            <a:r>
              <a:t>Cost monitoring, budgets, quotas, and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Cost Management Stack for AI Workloads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29184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Cloud Billing Reports, FinOps Hub,</a:t>
            </a:r>
            <a:br/>
            <a:r>
              <a:t>Anomaly Detection, Gemini Assist.</a:t>
            </a:r>
            <a:br/>
            <a:br/>
            <a:r>
              <a:t>Know what you're spending</a:t>
            </a:r>
            <a:br/>
            <a:r>
              <a:t>across all projects.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417320"/>
            <a:ext cx="329184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Budgets &amp; alerts per project,</a:t>
            </a:r>
            <a:br/>
            <a:r>
              <a:t>GPU/TPU quotas, programmatic</a:t>
            </a:r>
            <a:br/>
            <a:r>
              <a:t>auto-disable via Pub/Sub.</a:t>
            </a:r>
            <a:br/>
            <a:br/>
            <a:r>
              <a:t>Prevent runaway costs.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1408176"/>
            <a:ext cx="3383280" cy="3200400"/>
          </a:xfrm>
          <a:prstGeom prst="round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80" y="1417320"/>
            <a:ext cx="329184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Arial"/>
              </a:defRPr>
            </a:pPr>
            <a:r>
              <a:t>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74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rial"/>
              </a:defRPr>
            </a:pPr>
            <a:r>
              <a:t>CUDs (up to 57%), DWS (53%),</a:t>
            </a:r>
            <a:br/>
            <a:r>
              <a:t>Spot (91%), right-sizing,</a:t>
            </a:r>
            <a:br/>
            <a:r>
              <a:t>idle cleanup, storage tiering.</a:t>
            </a:r>
            <a:br/>
            <a:br/>
            <a:r>
              <a:t>Reduce unit costs.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GPU/TPU Cost Optimization Strategies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Spot / Preemptible VMs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Up to 91%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Can be preempted anytime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Fault-tolerant + checkpointing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DWS Flex-Start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Up to 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Queued, 7-day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Time-flexible training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CUDs (3-year)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Up to 57%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Locked commitment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Steady-state production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CUDs (1-year)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Up to 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Locked commitment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Workloads with 1yr+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Right-sizing VMs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10-40%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Requires profiling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Overprovisioned VMs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Idle resource cleanup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100% of idle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Requires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Arial"/>
                        </a:defRPr>
                      </a:pPr>
                      <a:r>
                        <a:t>Forgotten clusters/disks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124"/>
                </a:solidFill>
                <a:latin typeface="Arial"/>
              </a:defRPr>
            </a:pPr>
            <a:r>
              <a:t>Per-Project Cost Monitoring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Arial"/>
              </a:defRPr>
            </a:pPr>
            <a:r>
              <a:t>Every project running AI workloads should implement these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🔴  Create a per-project budget with alerts at 50%, 75%, 90%, 100%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🔴  Enable Billing Export to BigQuery (standard + detailed + pricing)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🔴  Apply labels to ALL resources (team, env, workload, model, cost-center)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🟡  Review and set GPU/TPU quotas — lower quotas = natural spending cap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🟡  Connect Pub/Sub to budget for programmatic alerts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🟡  Enable Anomaly Detection email alerts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🟡  Review FinOps Hub recommendations monthly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🟢  Set up GCS lifecycle policies for checkpoints &amp; profiles</a:t>
            </a:r>
          </a:p>
          <a:p>
            <a:pPr>
              <a:spcAft>
                <a:spcPts val="1000"/>
              </a:spcAft>
              <a:defRPr sz="1500">
                <a:solidFill>
                  <a:srgbClr val="202124"/>
                </a:solidFill>
                <a:latin typeface="Arial"/>
              </a:defRPr>
            </a:pPr>
            <a:r>
              <a:t>🟢  Evaluate CUD opportunities via FinOps Hub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914400"/>
            <a:ext cx="1828800" cy="1828800"/>
          </a:xfrm>
          <a:prstGeom prst="ellipse">
            <a:avLst/>
          </a:prstGeom>
          <a:solidFill>
            <a:srgbClr val="4285F4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743200"/>
            <a:ext cx="1097280" cy="1097280"/>
          </a:xfrm>
          <a:prstGeom prst="ellipse">
            <a:avLst/>
          </a:prstGeom>
          <a:solidFill>
            <a:srgbClr val="EA4335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114800"/>
            <a:ext cx="731520" cy="731520"/>
          </a:xfrm>
          <a:prstGeom prst="ellipse">
            <a:avLst/>
          </a:prstGeom>
          <a:solidFill>
            <a:srgbClr val="FBBC05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828800"/>
            <a:ext cx="548640" cy="548640"/>
          </a:xfrm>
          <a:prstGeom prst="ellipse">
            <a:avLst/>
          </a:prstGeom>
          <a:solidFill>
            <a:srgbClr val="34A853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☁  Google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27432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ECBFA"/>
                </a:solidFill>
                <a:latin typeface="Arial"/>
              </a:defRPr>
            </a:pPr>
            <a:r>
              <a:t>Key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DC1C6"/>
                </a:solidFill>
                <a:latin typeface="Arial"/>
              </a:defRPr>
            </a:pPr>
            <a:r>
              <a:t>📚  AI Hypercomputer Docs: cloud.google.com/ai-hypercomputer/docs</a:t>
            </a:r>
          </a:p>
          <a:p>
            <a:pPr>
              <a:spcAft>
                <a:spcPts val="1200"/>
              </a:spcAft>
              <a:defRPr sz="1500">
                <a:solidFill>
                  <a:srgbClr val="BDC1C6"/>
                </a:solidFill>
                <a:latin typeface="Arial"/>
              </a:defRPr>
            </a:pPr>
            <a:r>
              <a:t>🔧  Cluster Toolkit: github.com/GoogleCloudPlatform/cluster-toolkit</a:t>
            </a:r>
          </a:p>
          <a:p>
            <a:pPr>
              <a:spcAft>
                <a:spcPts val="1200"/>
              </a:spcAft>
              <a:defRPr sz="1500">
                <a:solidFill>
                  <a:srgbClr val="BDC1C6"/>
                </a:solidFill>
                <a:latin typeface="Arial"/>
              </a:defRPr>
            </a:pPr>
            <a:r>
              <a:t>⚡  XPK: github.com/AI-Hypercomputer/xpk</a:t>
            </a:r>
          </a:p>
          <a:p>
            <a:pPr>
              <a:spcAft>
                <a:spcPts val="1200"/>
              </a:spcAft>
              <a:defRPr sz="1500">
                <a:solidFill>
                  <a:srgbClr val="BDC1C6"/>
                </a:solidFill>
                <a:latin typeface="Arial"/>
              </a:defRPr>
            </a:pPr>
            <a:r>
              <a:t>📊  GPU Recipes: github.com/AI-Hypercomputer/gpu-recipes</a:t>
            </a:r>
          </a:p>
          <a:p>
            <a:pPr>
              <a:spcAft>
                <a:spcPts val="1200"/>
              </a:spcAft>
              <a:defRPr sz="1500">
                <a:solidFill>
                  <a:srgbClr val="BDC1C6"/>
                </a:solidFill>
                <a:latin typeface="Arial"/>
              </a:defRPr>
            </a:pPr>
            <a:r>
              <a:t>💰  DWS Pricing: cloud.google.com/products/dws/pricing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7923" y="6803136"/>
            <a:ext cx="3047923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5847" y="6803136"/>
            <a:ext cx="3047923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6803136"/>
            <a:ext cx="3047923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